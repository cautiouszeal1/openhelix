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HLIX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6103A"/>
              </a:solidFill>
              <a:ln w="25400" cap="flat">
                <a:solidFill>
                  <a:srgbClr val="0A061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F2E57"/>
              </a:solidFill>
              <a:ln w="25400" cap="flat">
                <a:solidFill>
                  <a:srgbClr val="0A061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6B86"/>
              </a:solidFill>
              <a:ln w="25400" cap="flat">
                <a:solidFill>
                  <a:srgbClr val="0A0613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B23A6E"/>
              </a:solidFill>
              <a:ln w="25400" cap="flat">
                <a:solidFill>
                  <a:srgbClr val="0A0613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7B2BFF"/>
              </a:solidFill>
              <a:ln w="25400" cap="flat">
                <a:solidFill>
                  <a:srgbClr val="0A0613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4A2A8A"/>
              </a:solidFill>
              <a:ln w="25400" cap="flat">
                <a:solidFill>
                  <a:srgbClr val="0A061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Ecosystem Growth</c:v>
                </c:pt>
                <c:pt idx="1">
                  <c:v>Community Incentives</c:v>
                </c:pt>
                <c:pt idx="2">
                  <c:v>Treasury</c:v>
                </c:pt>
                <c:pt idx="3">
                  <c:v>Team &amp; Advisors</c:v>
                </c:pt>
                <c:pt idx="4">
                  <c:v>Strategic Partners</c:v>
                </c:pt>
                <c:pt idx="5">
                  <c:v>Liquidity Reserve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10</c:v>
                </c:pt>
                <c:pt idx="5">
                  <c:v>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2011680"/>
            <a:ext cx="6858000" cy="6858000"/>
          </a:xfrm>
          <a:prstGeom prst="ellipse">
            <a:avLst/>
          </a:prstGeom>
          <a:solidFill>
            <a:srgbClr val="E6103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200400"/>
            <a:ext cx="5943600" cy="5943600"/>
          </a:xfrm>
          <a:prstGeom prst="ellipse">
            <a:avLst/>
          </a:prstGeom>
          <a:solidFill>
            <a:srgbClr val="7B2BFF">
              <a:alpha val="1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67665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OpenHelix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WEB3 LAUNCH OPERATING SYSTEM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" y="27432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operating layer for launching and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growing Web3 ecosystems.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640080" y="45720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deployment, governance, treasury oversight, and analytics — unified across BNB Chain and Solana.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opnhelix.xyz</a:t>
            </a:r>
            <a:pPr indent="0" marL="0">
              <a:buNone/>
            </a:pPr>
            <a:r>
              <a:rPr lang="en-US" sz="1300" b="1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Investor Deck ·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Fragmented tooling slows projects and erodes trust.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514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10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60120" y="32918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Scattered across tools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9319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55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creation, liquidity, governance, treasury, and reporting live in separate products that don't talk to each other.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61688" y="21945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81728" y="2514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10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81728" y="32918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Higher operational risk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81728" y="39319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55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systems multiply points of failure and make a project's execution hard to audit or verify.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83296" y="21945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03336" y="2514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10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403336" y="32918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Trust is hard to earn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03336" y="39319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55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Founders and communities can't easily see one coherent, accountable picture — so confidence suffers.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THE SOLUTION</a:t>
            </a:r>
            <a:endParaRPr lang="en-US" sz="1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unified launch &amp; growth platform.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640080" y="17830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 brings token deployment, proposal workflows, treasury controls, and analytics into a single operating layer — so teams launch faster while staying auditable and governance-first.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10896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96112" y="3611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Unified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896112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OPERATIONS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29000" y="310896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685032" y="3611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Governance-first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3685032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MODEL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310896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73952" y="3611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Auditable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473952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VISIBILITY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9006840" y="310896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262872" y="3611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Modular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9262872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ARCHITECTURE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Four hubs, one coherent system.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8523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295144"/>
            <a:ext cx="868680" cy="868680"/>
          </a:xfrm>
          <a:prstGeom prst="roundRect">
            <a:avLst>
              <a:gd name="adj" fmla="val 14737"/>
            </a:avLst>
          </a:prstGeom>
          <a:solidFill>
            <a:srgbClr val="E610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2514600"/>
            <a:ext cx="429768" cy="429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57400" y="229514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Token Studio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2057400" y="277063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5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asset deployment, supply setup, configuration, and launch prep.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965960"/>
            <a:ext cx="528523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64808" y="2295144"/>
            <a:ext cx="868680" cy="868680"/>
          </a:xfrm>
          <a:prstGeom prst="roundRect">
            <a:avLst>
              <a:gd name="adj" fmla="val 14737"/>
            </a:avLst>
          </a:prstGeom>
          <a:solidFill>
            <a:srgbClr val="E6103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514600"/>
            <a:ext cx="429768" cy="4297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9520" y="229514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Governance Hub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7589520" y="277063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5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management, voting, discussion, and structured decisions.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114800"/>
            <a:ext cx="528523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32688" y="4443984"/>
            <a:ext cx="868680" cy="868680"/>
          </a:xfrm>
          <a:prstGeom prst="roundRect">
            <a:avLst>
              <a:gd name="adj" fmla="val 14737"/>
            </a:avLst>
          </a:prstGeom>
          <a:solidFill>
            <a:srgbClr val="E6103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44" y="4663440"/>
            <a:ext cx="429768" cy="4297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57400" y="44439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Treasury Hub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2057400" y="491947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5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Oversight, controlled allocation, reserve tracking, and reporting.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72200" y="4114800"/>
            <a:ext cx="528523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64808" y="4443984"/>
            <a:ext cx="868680" cy="868680"/>
          </a:xfrm>
          <a:prstGeom prst="roundRect">
            <a:avLst>
              <a:gd name="adj" fmla="val 14737"/>
            </a:avLst>
          </a:prstGeom>
          <a:solidFill>
            <a:srgbClr val="E6103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663440"/>
            <a:ext cx="429768" cy="4297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89520" y="44439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Analytics Hub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7589520" y="491947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5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intelligence, performance visibility, and decision support.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HOW IT WORKS</a:t>
            </a:r>
            <a:endParaRPr lang="en-US" sz="1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 through the Portal. Route into modules.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3017520" cy="2926080"/>
          </a:xfrm>
          <a:prstGeom prst="roundRect">
            <a:avLst>
              <a:gd name="adj" fmla="val 2500"/>
            </a:avLst>
          </a:prstGeom>
          <a:solidFill>
            <a:srgbClr val="E6103A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27432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OpenHelix Portal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14400" y="35661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E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operating surface where teams access every workflow.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370332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4526280" y="2286000"/>
            <a:ext cx="3429000" cy="1325880"/>
          </a:xfrm>
          <a:prstGeom prst="roundRect">
            <a:avLst>
              <a:gd name="adj" fmla="val 5517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800600" y="2514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Token Studio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800600" y="2999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&amp; configure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83880" y="2286000"/>
            <a:ext cx="3429000" cy="1325880"/>
          </a:xfrm>
          <a:prstGeom prst="roundRect">
            <a:avLst>
              <a:gd name="adj" fmla="val 5517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58200" y="2514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Governance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458200" y="2999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&amp; vote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526280" y="3794760"/>
            <a:ext cx="3429000" cy="1325880"/>
          </a:xfrm>
          <a:prstGeom prst="roundRect">
            <a:avLst>
              <a:gd name="adj" fmla="val 5517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8006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Treasury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45079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&amp; report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183880" y="3794760"/>
            <a:ext cx="3429000" cy="1325880"/>
          </a:xfrm>
          <a:prstGeom prst="roundRect">
            <a:avLst>
              <a:gd name="adj" fmla="val 5517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4582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Analytics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458200" y="45079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decide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MARKET 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Launch demand rises with every tokenized community.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788920"/>
            <a:ext cx="777240" cy="777240"/>
          </a:xfrm>
          <a:prstGeom prst="ellipse">
            <a:avLst/>
          </a:prstGeom>
          <a:solidFill>
            <a:srgbClr val="FBE4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990088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703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Founders &amp; startups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0120" y="42062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55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launch execution without hiring contract engineers for every step.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61688" y="246888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81728" y="2788920"/>
            <a:ext cx="777240" cy="777240"/>
          </a:xfrm>
          <a:prstGeom prst="ellipse">
            <a:avLst/>
          </a:prstGeom>
          <a:solidFill>
            <a:srgbClr val="FBE4E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990088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81728" y="3703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DAOs &amp; communities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81728" y="42062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55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proposals, treasury oversight, and public accountability.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83296" y="246888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03336" y="2788920"/>
            <a:ext cx="777240" cy="777240"/>
          </a:xfrm>
          <a:prstGeom prst="ellipse">
            <a:avLst/>
          </a:prstGeom>
          <a:solidFill>
            <a:srgbClr val="FBE4E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990088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3703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Ecosystem teams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03336" y="42062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55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layer to coordinate growth, grants, governance, and reporting.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TOKENOMICS</a:t>
            </a:r>
            <a:endParaRPr lang="en-US" sz="1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HLIX — built for governance, incentives &amp; participation.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40080" y="17830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10B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43230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SUPPLY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2926080" y="17830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2926080" y="243230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POOLS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212080" y="17830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BNB + SOL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212080" y="243230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DUAL-CHAIN</a:t>
            </a:r>
            <a:endParaRPr lang="en-US" sz="10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1828800"/>
          <a:ext cx="47548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8732520" y="3703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HLIX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40080" y="3118104"/>
            <a:ext cx="146304" cy="146304"/>
          </a:xfrm>
          <a:prstGeom prst="ellipse">
            <a:avLst/>
          </a:prstGeom>
          <a:solidFill>
            <a:srgbClr val="E6103A"/>
          </a:solidFill>
          <a:ln/>
        </p:spPr>
      </p:sp>
      <p:sp>
        <p:nvSpPr>
          <p:cNvPr id="14" name="Text 10"/>
          <p:cNvSpPr/>
          <p:nvPr/>
        </p:nvSpPr>
        <p:spPr>
          <a:xfrm>
            <a:off x="896112" y="30266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Growth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486400" y="302666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35%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40080" y="3630168"/>
            <a:ext cx="146304" cy="146304"/>
          </a:xfrm>
          <a:prstGeom prst="ellipse">
            <a:avLst/>
          </a:prstGeom>
          <a:solidFill>
            <a:srgbClr val="FF2E57"/>
          </a:solidFill>
          <a:ln/>
        </p:spPr>
      </p:sp>
      <p:sp>
        <p:nvSpPr>
          <p:cNvPr id="17" name="Text 13"/>
          <p:cNvSpPr/>
          <p:nvPr/>
        </p:nvSpPr>
        <p:spPr>
          <a:xfrm>
            <a:off x="896112" y="35387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Incentives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486400" y="353872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20%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40080" y="4142232"/>
            <a:ext cx="146304" cy="146304"/>
          </a:xfrm>
          <a:prstGeom prst="ellipse">
            <a:avLst/>
          </a:prstGeom>
          <a:solidFill>
            <a:srgbClr val="FF6B86"/>
          </a:solidFill>
          <a:ln/>
        </p:spPr>
      </p:sp>
      <p:sp>
        <p:nvSpPr>
          <p:cNvPr id="20" name="Text 16"/>
          <p:cNvSpPr/>
          <p:nvPr/>
        </p:nvSpPr>
        <p:spPr>
          <a:xfrm>
            <a:off x="896112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5486400" y="40507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15%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40080" y="4654296"/>
            <a:ext cx="146304" cy="146304"/>
          </a:xfrm>
          <a:prstGeom prst="ellipse">
            <a:avLst/>
          </a:prstGeom>
          <a:solidFill>
            <a:srgbClr val="B23A6E"/>
          </a:solidFill>
          <a:ln/>
        </p:spPr>
      </p:sp>
      <p:sp>
        <p:nvSpPr>
          <p:cNvPr id="23" name="Text 19"/>
          <p:cNvSpPr/>
          <p:nvPr/>
        </p:nvSpPr>
        <p:spPr>
          <a:xfrm>
            <a:off x="896112" y="45628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Advisors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5486400" y="456285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15%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640080" y="5166360"/>
            <a:ext cx="146304" cy="146304"/>
          </a:xfrm>
          <a:prstGeom prst="ellipse">
            <a:avLst/>
          </a:prstGeom>
          <a:solidFill>
            <a:srgbClr val="7B2BFF"/>
          </a:solidFill>
          <a:ln/>
        </p:spPr>
      </p:sp>
      <p:sp>
        <p:nvSpPr>
          <p:cNvPr id="26" name="Text 22"/>
          <p:cNvSpPr/>
          <p:nvPr/>
        </p:nvSpPr>
        <p:spPr>
          <a:xfrm>
            <a:off x="896112" y="5074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Partners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5486400" y="50749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10%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40080" y="5678424"/>
            <a:ext cx="146304" cy="146304"/>
          </a:xfrm>
          <a:prstGeom prst="ellipse">
            <a:avLst/>
          </a:prstGeom>
          <a:solidFill>
            <a:srgbClr val="4A2A8A"/>
          </a:solidFill>
          <a:ln/>
        </p:spPr>
      </p:sp>
      <p:sp>
        <p:nvSpPr>
          <p:cNvPr id="29" name="Text 25"/>
          <p:cNvSpPr/>
          <p:nvPr/>
        </p:nvSpPr>
        <p:spPr>
          <a:xfrm>
            <a:off x="896112" y="55869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Reserve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0" y="558698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5%</a:t>
            </a:r>
            <a:endParaRPr lang="en-US" sz="1400" dirty="0"/>
          </a:p>
        </p:txBody>
      </p:sp>
      <p:sp>
        <p:nvSpPr>
          <p:cNvPr id="31" name="Text 27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GOVERNANCE &amp; TREASURY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Documented decisions. Sustainable treasury.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85232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377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10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Governance-first model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review before every major initiative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368503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reviewable voting rules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439826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outcome &amp; treasury disclosure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2103120"/>
            <a:ext cx="5285232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2377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10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Treasury for sustainability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1228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preservation over unsupervised spend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12280" y="368503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Allocations tied to measurable outcomes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12280" y="439826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review before material distribution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POSITIONING</a:t>
            </a:r>
            <a:endParaRPr lang="en-US" sz="1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Workflow coherence is the differentiator.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40080" y="1783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tools cover one job. OpenHelix unifies the whole launch-to-growth lifecycle in one auditable system.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822960" y="2788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92240" y="2788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tools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961120" y="2788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789920" cy="548640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33756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deployment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92240" y="3337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961120" y="3337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22960" y="390448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voting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92240" y="39044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961120" y="39044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40080" y="4453128"/>
            <a:ext cx="10789920" cy="548640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447141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oversight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92240" y="447141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961120" y="447141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22960" y="50383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reporting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92240" y="503834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961120" y="503834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40080" y="5586984"/>
            <a:ext cx="10789920" cy="548640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" y="560527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workflow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492240" y="560527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961120" y="560527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is illustrative of category positioning (e.g. TrustSwap, Team Finance, UNCX), not a feature audit.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3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2026 → 2030, tied to deliverables.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848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10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2026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560320" y="208483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platform launch, Token Studio, onboarding, governance foundations.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852928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10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2027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560320" y="2926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tools, developer resources, multi-chain expansion.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76732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10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2028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560320" y="37673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Fundraising infrastructure, grants program, governance maturity.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535424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6085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10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2029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6032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integrations, advanced analytics, strategic partnerships.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376672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6350">
            <a:solidFill>
              <a:srgbClr val="1A1326">
                <a:alpha val="1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1A13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544982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10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2030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560320" y="544982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ecosystem expansion, AI-assisted insights, cross-chain governance.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LEADERSHIP</a:t>
            </a:r>
            <a:endParaRPr lang="en-US" sz="1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Accountability anchored in named ownership.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5285232" cy="1828800"/>
          </a:xfrm>
          <a:prstGeom prst="roundRect">
            <a:avLst>
              <a:gd name="adj" fmla="val 4000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60120" y="2377440"/>
            <a:ext cx="1097280" cy="1097280"/>
          </a:xfrm>
          <a:prstGeom prst="ellipse">
            <a:avLst/>
          </a:prstGeom>
          <a:solidFill>
            <a:srgbClr val="120B22"/>
          </a:solidFill>
          <a:ln w="19050">
            <a:solidFill>
              <a:srgbClr val="E610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60120" y="2377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HT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286000" y="2377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Hiroshi Takeda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286000" y="2788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Executive Officer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286000" y="31272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Vision, partnerships, ecosystem strategy.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2011680"/>
            <a:ext cx="5285232" cy="1828800"/>
          </a:xfrm>
          <a:prstGeom prst="roundRect">
            <a:avLst>
              <a:gd name="adj" fmla="val 4000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377440"/>
            <a:ext cx="1097280" cy="1097280"/>
          </a:xfrm>
          <a:prstGeom prst="ellipse">
            <a:avLst/>
          </a:prstGeom>
          <a:solidFill>
            <a:srgbClr val="120B22"/>
          </a:solidFill>
          <a:ln w="19050">
            <a:solidFill>
              <a:srgbClr val="E610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92240" y="2377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DB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818120" y="2377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Daniel Brooks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7818120" y="2788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Technology Officer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31272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infrastructure, security.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40080" y="4114800"/>
            <a:ext cx="5285232" cy="1828800"/>
          </a:xfrm>
          <a:prstGeom prst="roundRect">
            <a:avLst>
              <a:gd name="adj" fmla="val 4000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60120" y="4480560"/>
            <a:ext cx="1097280" cy="1097280"/>
          </a:xfrm>
          <a:prstGeom prst="ellipse">
            <a:avLst/>
          </a:prstGeom>
          <a:solidFill>
            <a:srgbClr val="120B22"/>
          </a:solidFill>
          <a:ln w="19050">
            <a:solidFill>
              <a:srgbClr val="E6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60120" y="4480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MR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2286000" y="44805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Michael Reed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28600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Operating Officer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286000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Operations, execution, growth initiatives.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72200" y="4114800"/>
            <a:ext cx="5285232" cy="1828800"/>
          </a:xfrm>
          <a:prstGeom prst="roundRect">
            <a:avLst>
              <a:gd name="adj" fmla="val 4000"/>
            </a:avLst>
          </a:prstGeom>
          <a:solidFill>
            <a:srgbClr val="171026"/>
          </a:solidFill>
          <a:ln w="635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492240" y="4480560"/>
            <a:ext cx="1097280" cy="1097280"/>
          </a:xfrm>
          <a:prstGeom prst="ellipse">
            <a:avLst/>
          </a:prstGeom>
          <a:solidFill>
            <a:srgbClr val="120B22"/>
          </a:solidFill>
          <a:ln w="19050">
            <a:solidFill>
              <a:srgbClr val="E610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4480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E5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SB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818120" y="44805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Sophia Bennett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781812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Growth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7818120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expansion, partnerships, community.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4008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OpenHelix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7315200" cy="7315200"/>
          </a:xfrm>
          <a:prstGeom prst="ellipse">
            <a:avLst/>
          </a:prstGeom>
          <a:solidFill>
            <a:srgbClr val="E6103A">
              <a:alpha val="2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7724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21031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 trusted blockchain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4EEF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projects — without the chaos.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40080" y="39776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tokens, add liquidity, and grow your ecosystem on BNB Chain &amp; Solana — from one dashboard.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4937760"/>
            <a:ext cx="5486400" cy="1005840"/>
          </a:xfrm>
          <a:prstGeom prst="roundRect">
            <a:avLst>
              <a:gd name="adj" fmla="val 7273"/>
            </a:avLst>
          </a:prstGeom>
          <a:solidFill>
            <a:srgbClr val="120B22"/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50749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 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opnhelix.xyz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 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t.me/openhelix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OpenHelix — Investor Deck</dc:title>
  <dc:subject>PptxGenJS Presentation</dc:subject>
  <dc:creator>OpenHelix</dc:creator>
  <cp:lastModifiedBy>OpenHelix</cp:lastModifiedBy>
  <cp:revision>1</cp:revision>
  <dcterms:created xsi:type="dcterms:W3CDTF">2026-06-17T18:23:28Z</dcterms:created>
  <dcterms:modified xsi:type="dcterms:W3CDTF">2026-06-17T18:23:28Z</dcterms:modified>
</cp:coreProperties>
</file>